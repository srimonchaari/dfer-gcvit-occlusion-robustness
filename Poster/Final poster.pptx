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2"/>
  </p:sldIdLst>
  <p:sldSz cx="21383625" cy="30275213"/>
  <p:notesSz cx="14224000" cy="20104100"/>
  <p:defaultTextStyle>
    <a:defPPr>
      <a:defRPr lang="fr-DZ"/>
    </a:defPPr>
    <a:lvl1pPr marL="0" algn="l" defTabSz="972043" rtl="0" eaLnBrk="1" latinLnBrk="0" hangingPunct="1">
      <a:defRPr sz="1914" kern="1200">
        <a:solidFill>
          <a:schemeClr val="tx1"/>
        </a:solidFill>
        <a:latin typeface="+mn-lt"/>
        <a:ea typeface="+mn-ea"/>
        <a:cs typeface="+mn-cs"/>
      </a:defRPr>
    </a:lvl1pPr>
    <a:lvl2pPr marL="486020" algn="l" defTabSz="972043" rtl="0" eaLnBrk="1" latinLnBrk="0" hangingPunct="1">
      <a:defRPr sz="1914" kern="1200">
        <a:solidFill>
          <a:schemeClr val="tx1"/>
        </a:solidFill>
        <a:latin typeface="+mn-lt"/>
        <a:ea typeface="+mn-ea"/>
        <a:cs typeface="+mn-cs"/>
      </a:defRPr>
    </a:lvl2pPr>
    <a:lvl3pPr marL="972043" algn="l" defTabSz="972043" rtl="0" eaLnBrk="1" latinLnBrk="0" hangingPunct="1">
      <a:defRPr sz="1914" kern="1200">
        <a:solidFill>
          <a:schemeClr val="tx1"/>
        </a:solidFill>
        <a:latin typeface="+mn-lt"/>
        <a:ea typeface="+mn-ea"/>
        <a:cs typeface="+mn-cs"/>
      </a:defRPr>
    </a:lvl3pPr>
    <a:lvl4pPr marL="1458063" algn="l" defTabSz="972043" rtl="0" eaLnBrk="1" latinLnBrk="0" hangingPunct="1">
      <a:defRPr sz="1914" kern="1200">
        <a:solidFill>
          <a:schemeClr val="tx1"/>
        </a:solidFill>
        <a:latin typeface="+mn-lt"/>
        <a:ea typeface="+mn-ea"/>
        <a:cs typeface="+mn-cs"/>
      </a:defRPr>
    </a:lvl4pPr>
    <a:lvl5pPr marL="1944085" algn="l" defTabSz="972043" rtl="0" eaLnBrk="1" latinLnBrk="0" hangingPunct="1">
      <a:defRPr sz="1914" kern="1200">
        <a:solidFill>
          <a:schemeClr val="tx1"/>
        </a:solidFill>
        <a:latin typeface="+mn-lt"/>
        <a:ea typeface="+mn-ea"/>
        <a:cs typeface="+mn-cs"/>
      </a:defRPr>
    </a:lvl5pPr>
    <a:lvl6pPr marL="2430105" algn="l" defTabSz="972043" rtl="0" eaLnBrk="1" latinLnBrk="0" hangingPunct="1">
      <a:defRPr sz="1914" kern="1200">
        <a:solidFill>
          <a:schemeClr val="tx1"/>
        </a:solidFill>
        <a:latin typeface="+mn-lt"/>
        <a:ea typeface="+mn-ea"/>
        <a:cs typeface="+mn-cs"/>
      </a:defRPr>
    </a:lvl6pPr>
    <a:lvl7pPr marL="2916126" algn="l" defTabSz="972043" rtl="0" eaLnBrk="1" latinLnBrk="0" hangingPunct="1">
      <a:defRPr sz="1914" kern="1200">
        <a:solidFill>
          <a:schemeClr val="tx1"/>
        </a:solidFill>
        <a:latin typeface="+mn-lt"/>
        <a:ea typeface="+mn-ea"/>
        <a:cs typeface="+mn-cs"/>
      </a:defRPr>
    </a:lvl7pPr>
    <a:lvl8pPr marL="3402147" algn="l" defTabSz="972043" rtl="0" eaLnBrk="1" latinLnBrk="0" hangingPunct="1">
      <a:defRPr sz="1914" kern="1200">
        <a:solidFill>
          <a:schemeClr val="tx1"/>
        </a:solidFill>
        <a:latin typeface="+mn-lt"/>
        <a:ea typeface="+mn-ea"/>
        <a:cs typeface="+mn-cs"/>
      </a:defRPr>
    </a:lvl8pPr>
    <a:lvl9pPr marL="3888169" algn="l" defTabSz="972043" rtl="0" eaLnBrk="1" latinLnBrk="0" hangingPunct="1">
      <a:defRPr sz="1914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063" userDrawn="1">
          <p15:clr>
            <a:srgbClr val="A4A3A4"/>
          </p15:clr>
        </p15:guide>
        <p15:guide id="2" pos="229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855"/>
    <a:srgbClr val="D8F3E3"/>
    <a:srgbClr val="00796B"/>
    <a:srgbClr val="D8E6F3"/>
    <a:srgbClr val="B9DAD3"/>
    <a:srgbClr val="009999"/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322" autoAdjust="0"/>
    <p:restoredTop sz="95196" autoAdjust="0"/>
  </p:normalViewPr>
  <p:slideViewPr>
    <p:cSldViewPr>
      <p:cViewPr>
        <p:scale>
          <a:sx n="50" d="100"/>
          <a:sy n="50" d="100"/>
        </p:scale>
        <p:origin x="156" y="-1736"/>
      </p:cViewPr>
      <p:guideLst>
        <p:guide orient="horz" pos="3063"/>
        <p:guide pos="2296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02917" y="3525937"/>
            <a:ext cx="683306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205839" y="6369432"/>
            <a:ext cx="5627233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17-Jul-26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17-Jul-26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01945" y="2616019"/>
            <a:ext cx="3496923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140035" y="2616019"/>
            <a:ext cx="3496923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17-Jul-26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17-Jul-26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17-Jul-26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01945" y="454962"/>
            <a:ext cx="723501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01945" y="2616019"/>
            <a:ext cx="723501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733227" y="10577803"/>
            <a:ext cx="2572450" cy="2946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01945" y="10577803"/>
            <a:ext cx="1848948" cy="2946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17-Jul-26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788012" y="10577803"/>
            <a:ext cx="1848948" cy="2946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1384000" cy="2651760"/>
          </a:xfrm>
          <a:prstGeom prst="rect">
            <a:avLst/>
          </a:prstGeom>
          <a:solidFill>
            <a:srgbClr val="002855"/>
          </a:solidFill>
          <a:ln>
            <a:solidFill>
              <a:srgbClr val="0028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698" y="339261"/>
            <a:ext cx="2952000" cy="208288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276000" y="180000"/>
            <a:ext cx="14868000" cy="2359152"/>
          </a:xfrm>
          <a:prstGeom prst="rect">
            <a:avLst/>
          </a:prstGeom>
          <a:noFill/>
        </p:spPr>
        <p:txBody>
          <a:bodyPr wrap="square" lIns="108000" tIns="72000" rIns="108000" bIns="72000" anchor="ctr">
            <a:spAutoFit/>
          </a:bodyPr>
          <a:lstStyle/>
          <a:p>
            <a:pPr algn="ctr"/>
            <a:r>
              <a:rPr sz="4000" b="1" i="0" dirty="0">
                <a:solidFill>
                  <a:srgbClr val="FFFFFF"/>
                </a:solidFill>
                <a:latin typeface="Times New Roman"/>
              </a:rPr>
              <a:t>Does DFER-</a:t>
            </a:r>
            <a:r>
              <a:rPr sz="4000" b="1" i="0" dirty="0" err="1">
                <a:solidFill>
                  <a:srgbClr val="FFFFFF"/>
                </a:solidFill>
                <a:latin typeface="Times New Roman"/>
              </a:rPr>
              <a:t>GCViT</a:t>
            </a:r>
            <a:r>
              <a:rPr sz="4000" b="1" i="0" dirty="0">
                <a:solidFill>
                  <a:srgbClr val="FFFFFF"/>
                </a:solidFill>
                <a:latin typeface="Times New Roman"/>
              </a:rPr>
              <a:t> Hold Up Under Real-World Occlusions?</a:t>
            </a:r>
          </a:p>
          <a:p>
            <a:pPr algn="ctr">
              <a:spcBef>
                <a:spcPts val="500"/>
              </a:spcBef>
            </a:pPr>
            <a:r>
              <a:rPr sz="2600" b="0" i="0" dirty="0">
                <a:solidFill>
                  <a:srgbClr val="FFFFFF"/>
                </a:solidFill>
                <a:latin typeface="Times New Roman"/>
              </a:rPr>
              <a:t>A Robustness Study Using Synthetic Occlusions on KMU-FED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1625" y="2701673"/>
            <a:ext cx="20952000" cy="457200"/>
          </a:xfrm>
          <a:prstGeom prst="rect">
            <a:avLst/>
          </a:prstGeom>
          <a:noFill/>
        </p:spPr>
        <p:txBody>
          <a:bodyPr wrap="square" lIns="0" tIns="0" rIns="108000" bIns="72000">
            <a:spAutoFit/>
          </a:bodyPr>
          <a:lstStyle/>
          <a:p>
            <a:pPr algn="ctr"/>
            <a:r>
              <a:rPr sz="2400" b="1" i="0" dirty="0" err="1">
                <a:solidFill>
                  <a:srgbClr val="1A1A18"/>
                </a:solidFill>
                <a:latin typeface="Times New Roman"/>
              </a:rPr>
              <a:t>Srimonchaari</a:t>
            </a:r>
            <a:r>
              <a:rPr sz="2400" b="1" i="0" dirty="0">
                <a:solidFill>
                  <a:srgbClr val="1A1A18"/>
                </a:solidFill>
                <a:latin typeface="Times New Roman"/>
              </a:rPr>
              <a:t> Padmanabhan Babu, Ibtissam Saadi, Douglas W. Cunningham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7458" y="3052355"/>
            <a:ext cx="20952000" cy="380480"/>
          </a:xfrm>
          <a:prstGeom prst="rect">
            <a:avLst/>
          </a:prstGeom>
          <a:noFill/>
        </p:spPr>
        <p:txBody>
          <a:bodyPr wrap="square" lIns="0" tIns="0" rIns="108000" bIns="72000">
            <a:spAutoFit/>
          </a:bodyPr>
          <a:lstStyle/>
          <a:p>
            <a:pPr algn="ctr"/>
            <a:r>
              <a:rPr sz="2000" b="0" i="1" dirty="0">
                <a:solidFill>
                  <a:srgbClr val="555555"/>
                </a:solidFill>
                <a:latin typeface="Times New Roman"/>
              </a:rPr>
              <a:t>Department of Graphical Systems, BTU Cottbus-</a:t>
            </a:r>
            <a:r>
              <a:rPr sz="2000" b="0" i="1" dirty="0" err="1">
                <a:solidFill>
                  <a:srgbClr val="555555"/>
                </a:solidFill>
                <a:latin typeface="Times New Roman"/>
              </a:rPr>
              <a:t>Senftenberg</a:t>
            </a:r>
            <a:r>
              <a:rPr sz="2000" b="0" i="1" dirty="0">
                <a:solidFill>
                  <a:srgbClr val="555555"/>
                </a:solidFill>
                <a:latin typeface="Times New Roman"/>
              </a:rPr>
              <a:t>, Cottbus, Germany</a:t>
            </a:r>
          </a:p>
        </p:txBody>
      </p:sp>
      <p:sp>
        <p:nvSpPr>
          <p:cNvPr id="7" name="Rectangle 6"/>
          <p:cNvSpPr/>
          <p:nvPr/>
        </p:nvSpPr>
        <p:spPr>
          <a:xfrm>
            <a:off x="222869" y="3403625"/>
            <a:ext cx="20943216" cy="54278"/>
          </a:xfrm>
          <a:prstGeom prst="rect">
            <a:avLst/>
          </a:prstGeom>
          <a:solidFill>
            <a:srgbClr val="002855"/>
          </a:solidFill>
          <a:ln>
            <a:solidFill>
              <a:srgbClr val="0028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0" y="29846016"/>
            <a:ext cx="21387816" cy="429768"/>
          </a:xfrm>
          <a:prstGeom prst="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219456" y="29955744"/>
            <a:ext cx="7918704" cy="28346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400">
                <a:solidFill>
                  <a:srgbClr val="FFFFFF"/>
                </a:solidFill>
                <a:latin typeface="Times New Roman"/>
              </a:rPr>
              <a:t>Contact: padmasri@b-tu.de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43268" y="28159016"/>
            <a:ext cx="20948904" cy="9207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500" b="1" dirty="0">
                <a:solidFill>
                  <a:srgbClr val="1A1A18"/>
                </a:solidFill>
                <a:latin typeface="Times New Roman"/>
              </a:rPr>
              <a:t>References:</a:t>
            </a:r>
          </a:p>
          <a:p>
            <a:pPr>
              <a:spcAft>
                <a:spcPts val="200"/>
              </a:spcAft>
            </a:pPr>
            <a:r>
              <a:rPr sz="1300" dirty="0">
                <a:solidFill>
                  <a:srgbClr val="1A1A18"/>
                </a:solidFill>
                <a:latin typeface="Times New Roman"/>
              </a:rPr>
              <a:t>[</a:t>
            </a:r>
            <a:r>
              <a:rPr lang="en-US" sz="1300" dirty="0">
                <a:solidFill>
                  <a:srgbClr val="1A1A18"/>
                </a:solidFill>
                <a:latin typeface="Times New Roman"/>
              </a:rPr>
              <a:t>1</a:t>
            </a:r>
            <a:r>
              <a:rPr sz="1300" dirty="0">
                <a:solidFill>
                  <a:srgbClr val="1A1A18"/>
                </a:solidFill>
                <a:latin typeface="Times New Roman"/>
              </a:rPr>
              <a:t>] I. Saadi, D. Cunningham, A. Taleb-Ahmed, A. Hadid, Y. El </a:t>
            </a:r>
            <a:r>
              <a:rPr sz="1300" dirty="0" err="1">
                <a:solidFill>
                  <a:srgbClr val="1A1A18"/>
                </a:solidFill>
                <a:latin typeface="Times New Roman"/>
              </a:rPr>
              <a:t>Hillali</a:t>
            </a:r>
            <a:r>
              <a:rPr sz="1300" dirty="0">
                <a:solidFill>
                  <a:srgbClr val="1A1A18"/>
                </a:solidFill>
                <a:latin typeface="Times New Roman"/>
              </a:rPr>
              <a:t>, "Driver's Facial Expression Recognition using Global Context Vision Transformer," IEEE CVMI, 2023.</a:t>
            </a:r>
          </a:p>
          <a:p>
            <a:pPr>
              <a:spcAft>
                <a:spcPts val="200"/>
              </a:spcAft>
            </a:pPr>
            <a:r>
              <a:rPr sz="1300" dirty="0">
                <a:solidFill>
                  <a:srgbClr val="1A1A18"/>
                </a:solidFill>
                <a:latin typeface="Times New Roman"/>
              </a:rPr>
              <a:t>[</a:t>
            </a:r>
            <a:r>
              <a:rPr lang="en-US" sz="1300" dirty="0">
                <a:solidFill>
                  <a:srgbClr val="1A1A18"/>
                </a:solidFill>
                <a:latin typeface="Times New Roman"/>
              </a:rPr>
              <a:t>2</a:t>
            </a:r>
            <a:r>
              <a:rPr sz="1300" dirty="0">
                <a:solidFill>
                  <a:srgbClr val="1A1A18"/>
                </a:solidFill>
                <a:latin typeface="Times New Roman"/>
              </a:rPr>
              <a:t>] A. </a:t>
            </a:r>
            <a:r>
              <a:rPr sz="1300" dirty="0" err="1">
                <a:solidFill>
                  <a:srgbClr val="1A1A18"/>
                </a:solidFill>
                <a:latin typeface="Times New Roman"/>
              </a:rPr>
              <a:t>Hatamizadeh</a:t>
            </a:r>
            <a:r>
              <a:rPr sz="1300" dirty="0">
                <a:solidFill>
                  <a:srgbClr val="1A1A18"/>
                </a:solidFill>
                <a:latin typeface="Times New Roman"/>
              </a:rPr>
              <a:t>, H. Yin, J. Kautz, P. Molchanov, "Global Context Vision Transformers," arXiv:2206.09959, 2022.</a:t>
            </a:r>
          </a:p>
          <a:p>
            <a:pPr>
              <a:spcAft>
                <a:spcPts val="200"/>
              </a:spcAft>
            </a:pPr>
            <a:r>
              <a:rPr sz="1300" dirty="0">
                <a:solidFill>
                  <a:srgbClr val="1A1A18"/>
                </a:solidFill>
                <a:latin typeface="Times New Roman"/>
              </a:rPr>
              <a:t>[</a:t>
            </a:r>
            <a:r>
              <a:rPr lang="en-US" sz="1300" dirty="0">
                <a:solidFill>
                  <a:srgbClr val="1A1A18"/>
                </a:solidFill>
                <a:latin typeface="Times New Roman"/>
              </a:rPr>
              <a:t>3</a:t>
            </a:r>
            <a:r>
              <a:rPr sz="1300" dirty="0">
                <a:solidFill>
                  <a:srgbClr val="1A1A18"/>
                </a:solidFill>
                <a:latin typeface="Times New Roman"/>
              </a:rPr>
              <a:t>] M. Jeong, B. C. Ko, "Driver's facial expression recognition in real-time for safe driving," Sensors, vol. 18, no. 12, p. 4270, 2018.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19456" y="3639312"/>
            <a:ext cx="10351008" cy="502920"/>
          </a:xfrm>
          <a:prstGeom prst="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Times New Roman"/>
              </a:rPr>
              <a:t>1.   INTRODUCTION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23646" y="4142078"/>
            <a:ext cx="10311521" cy="9126234"/>
          </a:xfrm>
          <a:prstGeom prst="rect">
            <a:avLst/>
          </a:prstGeom>
          <a:solidFill>
            <a:srgbClr val="D8E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356616" y="4288536"/>
            <a:ext cx="10076688" cy="20005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Gap: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Driver facial expression recognition, including DFER-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GCViT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(Saadi et al., 2023) at 98.27% on KMU-FED [1], has never been verified under real-world occlusions [1]. </a:t>
            </a:r>
          </a:p>
          <a:p>
            <a:pPr>
              <a:spcAft>
                <a:spcPts val="600"/>
              </a:spcAft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it matters: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Grad-CAM confirms heavy reliance on the mouth region [1], which is vulnerable to masks and sunglasses. </a:t>
            </a:r>
          </a:p>
          <a:p>
            <a:pPr>
              <a:spcAft>
                <a:spcPts val="600"/>
              </a:spcAft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study: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synthetic occlusions applied to KMU-FED [3]. Robustness measured via accuracy drop (%).</a:t>
            </a:r>
            <a:endParaRPr lang="en-US" sz="2000" b="0" dirty="0">
              <a:solidFill>
                <a:srgbClr val="1A1A1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5" name="Picture 7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1685" y="6042250"/>
            <a:ext cx="3538727" cy="6792182"/>
          </a:xfrm>
          <a:prstGeom prst="rect">
            <a:avLst/>
          </a:prstGeom>
        </p:spPr>
      </p:pic>
      <p:sp>
        <p:nvSpPr>
          <p:cNvPr id="76" name="TextBox 75"/>
          <p:cNvSpPr txBox="1"/>
          <p:nvPr/>
        </p:nvSpPr>
        <p:spPr>
          <a:xfrm>
            <a:off x="346561" y="12876133"/>
            <a:ext cx="10188606" cy="2616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 i="1" dirty="0">
                <a:solidFill>
                  <a:srgbClr val="1A1A18"/>
                </a:solidFill>
                <a:latin typeface="Times New Roman"/>
              </a:rPr>
              <a:t>Fig. 1. Mouth occlusion erases the signal the baseline model depends on, the root cause of its 60% accuracy drop.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45870" y="13444258"/>
            <a:ext cx="10289297" cy="502920"/>
          </a:xfrm>
          <a:prstGeom prst="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Times New Roman"/>
              </a:rPr>
              <a:t>2.   RESEARCH QUESTIONS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43268" y="13953404"/>
            <a:ext cx="10291899" cy="1784127"/>
          </a:xfrm>
          <a:prstGeom prst="rect">
            <a:avLst/>
          </a:prstGeom>
          <a:solidFill>
            <a:srgbClr val="D8E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346561" y="14104321"/>
            <a:ext cx="10076688" cy="14066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2000" dirty="0">
                <a:solidFill>
                  <a:srgbClr val="1A1A18"/>
                </a:solidFill>
                <a:latin typeface="Times New Roman"/>
              </a:rPr>
              <a:t>RQ1: How much does DFER-</a:t>
            </a:r>
            <a:r>
              <a:rPr sz="2000" dirty="0" err="1">
                <a:solidFill>
                  <a:srgbClr val="1A1A18"/>
                </a:solidFill>
                <a:latin typeface="Times New Roman"/>
              </a:rPr>
              <a:t>GCViT</a:t>
            </a:r>
            <a:r>
              <a:rPr sz="2000" dirty="0">
                <a:solidFill>
                  <a:srgbClr val="1A1A18"/>
                </a:solidFill>
                <a:latin typeface="Times New Roman"/>
              </a:rPr>
              <a:t> accuracy and F1-score drop under synthetic occlusion at test time?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2000" dirty="0">
                <a:solidFill>
                  <a:srgbClr val="1A1A18"/>
                </a:solidFill>
                <a:latin typeface="Times New Roman"/>
              </a:rPr>
              <a:t>RQ2: Can training with occluded samples reduce that performance gap?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19456" y="15941953"/>
            <a:ext cx="10351008" cy="502920"/>
          </a:xfrm>
          <a:prstGeom prst="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Times New Roman"/>
              </a:rPr>
              <a:t>3.   METHODOLOGY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23646" y="16449759"/>
            <a:ext cx="10351008" cy="11212515"/>
          </a:xfrm>
          <a:prstGeom prst="rect">
            <a:avLst/>
          </a:prstGeom>
          <a:solidFill>
            <a:srgbClr val="D8E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346561" y="16565815"/>
            <a:ext cx="10076688" cy="3272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1, Baseline (Model A):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pretrained GC-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Base [2] with the modified classifier head from  </a:t>
            </a:r>
            <a:r>
              <a:rPr lang="en-US" dirty="0"/>
              <a:t>Saadi et al.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[1], evaluated with 10-fold CV on KMU-FED [3]. 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2, Occlusion: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black rectangles placed over the eye (simulating sunglasses) and mouth (simulating a surgical mask), applied programmatically with no manual labelling. 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3, Training: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 A trains on clean images only. Model B trains on 50% occluded images (25% eye, 25% mouth), using the same held-out folds. 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4, Evaluation: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both models (A and B) are tested on three conditions, clean, eye-occluded, and mouth-occluded, using accuracy drop (%) as the robustness metric.</a:t>
            </a:r>
            <a:endParaRPr sz="2000" b="0" dirty="0">
              <a:solidFill>
                <a:srgbClr val="1A1A1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3" name="Picture 8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6640" y="20169247"/>
            <a:ext cx="9568815" cy="2683671"/>
          </a:xfrm>
          <a:prstGeom prst="rect">
            <a:avLst/>
          </a:prstGeom>
        </p:spPr>
      </p:pic>
      <p:sp>
        <p:nvSpPr>
          <p:cNvPr id="84" name="TextBox 83"/>
          <p:cNvSpPr txBox="1"/>
          <p:nvPr/>
        </p:nvSpPr>
        <p:spPr>
          <a:xfrm>
            <a:off x="761048" y="22912163"/>
            <a:ext cx="10076688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 i="1" dirty="0">
                <a:solidFill>
                  <a:srgbClr val="1A1A18"/>
                </a:solidFill>
                <a:latin typeface="Times New Roman"/>
              </a:rPr>
              <a:t>Fig. 2. Testing eye and mouth occlusion separately reveals exactly which region the model relies on.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83721" y="26960733"/>
            <a:ext cx="10076688" cy="5232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 3. </a:t>
            </a:r>
            <a:r>
              <a:rPr lang="en-US" sz="17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Per-fold cross-validation accuracy on clean images. Both models perform comparably baseline averages 95.82%, occluded model 93.45% - though the occluded model is less stable, dropping to 80% in fold 5.</a:t>
            </a:r>
            <a:endParaRPr sz="1700" b="1" i="1" dirty="0">
              <a:solidFill>
                <a:srgbClr val="1A1A1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7" name="Rectangle 86"/>
          <p:cNvSpPr/>
          <p:nvPr/>
        </p:nvSpPr>
        <p:spPr>
          <a:xfrm>
            <a:off x="10817352" y="3639312"/>
            <a:ext cx="10351008" cy="502920"/>
          </a:xfrm>
          <a:prstGeom prst="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Times New Roman"/>
              </a:rPr>
              <a:t>4.   RESULTS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0817352" y="4142231"/>
            <a:ext cx="10346817" cy="16540709"/>
          </a:xfrm>
          <a:prstGeom prst="rect">
            <a:avLst/>
          </a:prstGeom>
          <a:solidFill>
            <a:srgbClr val="D8E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89" name="Table 8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4649881"/>
              </p:ext>
            </p:extLst>
          </p:nvPr>
        </p:nvGraphicFramePr>
        <p:xfrm>
          <a:off x="11005756" y="4384363"/>
          <a:ext cx="10058400" cy="25237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Times New Roman"/>
                        </a:rPr>
                        <a:t>Test Condition</a:t>
                      </a:r>
                    </a:p>
                  </a:txBody>
                  <a:tcPr>
                    <a:solidFill>
                      <a:srgbClr val="0028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Times New Roman"/>
                        </a:rPr>
                        <a:t>Model A (Baseline)</a:t>
                      </a:r>
                    </a:p>
                  </a:txBody>
                  <a:tcPr>
                    <a:solidFill>
                      <a:srgbClr val="0028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Times New Roman"/>
                        </a:rPr>
                        <a:t>Model B (Occluded)</a:t>
                      </a:r>
                    </a:p>
                  </a:txBody>
                  <a:tcPr>
                    <a:solidFill>
                      <a:srgbClr val="0028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A1A18"/>
                          </a:solidFill>
                          <a:latin typeface="Times New Roman"/>
                        </a:rPr>
                        <a:t>Clean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A1A18"/>
                          </a:solidFill>
                          <a:latin typeface="Times New Roman"/>
                        </a:rPr>
                        <a:t>95.82%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A1A18"/>
                          </a:solidFill>
                          <a:latin typeface="Times New Roman"/>
                        </a:rPr>
                        <a:t>93.45%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A1A18"/>
                          </a:solidFill>
                          <a:latin typeface="Times New Roman"/>
                        </a:rPr>
                        <a:t>Eye Occluded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A1A18"/>
                          </a:solidFill>
                          <a:latin typeface="Times New Roman"/>
                        </a:rPr>
                        <a:t>92.64%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A1A18"/>
                          </a:solidFill>
                          <a:latin typeface="Times New Roman"/>
                        </a:rPr>
                        <a:t>90.73%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A1A18"/>
                          </a:solidFill>
                          <a:latin typeface="Times New Roman"/>
                        </a:rPr>
                        <a:t>Mouth Occluded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A1A18"/>
                          </a:solidFill>
                          <a:latin typeface="Times New Roman"/>
                        </a:rPr>
                        <a:t>35.45%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A1A18"/>
                          </a:solidFill>
                          <a:latin typeface="Times New Roman"/>
                        </a:rPr>
                        <a:t>74.73%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A1A18"/>
                          </a:solidFill>
                          <a:latin typeface="Times New Roman"/>
                        </a:rPr>
                        <a:t>Eye Drop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A1A18"/>
                          </a:solidFill>
                          <a:latin typeface="Times New Roman"/>
                        </a:rPr>
                        <a:t>3.18%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A1A18"/>
                          </a:solidFill>
                          <a:latin typeface="Times New Roman"/>
                        </a:rPr>
                        <a:t>2.73%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A85C00"/>
                          </a:solidFill>
                          <a:latin typeface="Times New Roman"/>
                        </a:rPr>
                        <a:t>Mouth Drop</a:t>
                      </a:r>
                    </a:p>
                  </a:txBody>
                  <a:tcPr>
                    <a:solidFill>
                      <a:srgbClr val="FFF4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A85C00"/>
                          </a:solidFill>
                          <a:latin typeface="Times New Roman"/>
                        </a:rPr>
                        <a:t>60.36%</a:t>
                      </a:r>
                    </a:p>
                  </a:txBody>
                  <a:tcPr>
                    <a:solidFill>
                      <a:srgbClr val="FFF4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solidFill>
                            <a:srgbClr val="A85C00"/>
                          </a:solidFill>
                          <a:latin typeface="Times New Roman"/>
                        </a:rPr>
                        <a:t>18.73%</a:t>
                      </a:r>
                    </a:p>
                  </a:txBody>
                  <a:tcPr>
                    <a:solidFill>
                      <a:srgbClr val="FFF4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0" name="TextBox 89"/>
          <p:cNvSpPr txBox="1"/>
          <p:nvPr/>
        </p:nvSpPr>
        <p:spPr>
          <a:xfrm>
            <a:off x="11073003" y="7186620"/>
            <a:ext cx="10180532" cy="9233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A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relies almost entirely on the mouth: 60.36% accuracy drop vs. just 3.18% for eye occlusion.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B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recovers most of that loss, cutting the mouth-occlusion drop from 60.36% to 18.73%.</a:t>
            </a:r>
            <a:endParaRPr sz="2000" b="1" dirty="0">
              <a:solidFill>
                <a:srgbClr val="A85C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1" name="Picture 9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10806" y="8268522"/>
            <a:ext cx="8359549" cy="5224717"/>
          </a:xfrm>
          <a:prstGeom prst="rect">
            <a:avLst/>
          </a:prstGeom>
        </p:spPr>
      </p:pic>
      <p:sp>
        <p:nvSpPr>
          <p:cNvPr id="92" name="TextBox 91"/>
          <p:cNvSpPr txBox="1"/>
          <p:nvPr/>
        </p:nvSpPr>
        <p:spPr>
          <a:xfrm>
            <a:off x="11124925" y="13563459"/>
            <a:ext cx="10076688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sz="1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 4. Accuracy drop (%) under occlusion. Mouth occlusion drops Model A's accuracy by 60.36 percentage points, reduced to 18.73 with occlusion training, a 41.6-point recovery. Eye occlusion has minimal effect on both models.</a:t>
            </a:r>
            <a:endParaRPr sz="1600" b="1" i="1" dirty="0">
              <a:solidFill>
                <a:srgbClr val="1A1A1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3" name="Picture 9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55554" y="14196341"/>
            <a:ext cx="9244360" cy="5869435"/>
          </a:xfrm>
          <a:prstGeom prst="rect">
            <a:avLst/>
          </a:prstGeom>
        </p:spPr>
      </p:pic>
      <p:sp>
        <p:nvSpPr>
          <p:cNvPr id="94" name="TextBox 93"/>
          <p:cNvSpPr txBox="1"/>
          <p:nvPr/>
        </p:nvSpPr>
        <p:spPr>
          <a:xfrm>
            <a:off x="10911267" y="20101548"/>
            <a:ext cx="10076688" cy="5232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sz="17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 5. Confusion matrices under mouth occlusion. Model A (baseline) confuses Anger and Happy with Disgust; Model B (occluded training) stays mostly on the diagonal.</a:t>
            </a:r>
            <a:endParaRPr sz="1700" b="1" i="1" dirty="0">
              <a:solidFill>
                <a:srgbClr val="1A1A1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5" name="Rectangle 94"/>
          <p:cNvSpPr/>
          <p:nvPr/>
        </p:nvSpPr>
        <p:spPr>
          <a:xfrm>
            <a:off x="10815077" y="20914818"/>
            <a:ext cx="10351008" cy="502920"/>
          </a:xfrm>
          <a:prstGeom prst="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Times New Roman"/>
              </a:rPr>
              <a:t>5.   CONCLUSION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0815077" y="21427641"/>
            <a:ext cx="10316907" cy="2953512"/>
          </a:xfrm>
          <a:prstGeom prst="rect">
            <a:avLst/>
          </a:prstGeom>
          <a:solidFill>
            <a:srgbClr val="D8E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10966830" y="21663422"/>
            <a:ext cx="10076688" cy="242611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Mouth occlusion is catastrophic for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expressions driven by mouth signals (Happy, Surprise, Anger) fail completely.</a:t>
            </a:r>
            <a:endParaRPr lang="en-US" sz="2000" b="1" dirty="0">
              <a:solidFill>
                <a:srgbClr val="A85C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B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cuts the mouth-occlusion drop from 60.36% to 18.73%, while clean accuracy drops slightly from 95.82% to 93.45%.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lang="en-US" sz="2000" b="0" dirty="0">
                <a:solidFill>
                  <a:srgbClr val="1A1A1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GC-</a:t>
            </a:r>
            <a:r>
              <a:rPr lang="en-US" sz="2000" b="0" dirty="0" err="1">
                <a:solidFill>
                  <a:srgbClr val="1A1A1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ViT</a:t>
            </a:r>
            <a:r>
              <a:rPr lang="en-US" sz="2000" b="0" dirty="0">
                <a:solidFill>
                  <a:srgbClr val="1A1A1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global attention makes both models resilient to eye occlusion. Mouth remains the critical vulnerability.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0815077" y="24613030"/>
            <a:ext cx="10351008" cy="502920"/>
          </a:xfrm>
          <a:prstGeom prst="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600" b="1" dirty="0">
                <a:solidFill>
                  <a:srgbClr val="FFFFFF"/>
                </a:solidFill>
                <a:latin typeface="Times New Roman"/>
              </a:rPr>
              <a:t>6.   FUTURE WORK</a:t>
            </a:r>
          </a:p>
        </p:txBody>
      </p:sp>
      <p:sp>
        <p:nvSpPr>
          <p:cNvPr id="99" name="Rectangle 98"/>
          <p:cNvSpPr/>
          <p:nvPr/>
        </p:nvSpPr>
        <p:spPr>
          <a:xfrm>
            <a:off x="10817352" y="25120242"/>
            <a:ext cx="10351008" cy="2542032"/>
          </a:xfrm>
          <a:prstGeom prst="rect">
            <a:avLst/>
          </a:prstGeom>
          <a:solidFill>
            <a:srgbClr val="D8E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00" name="TextBox 99"/>
          <p:cNvSpPr txBox="1"/>
          <p:nvPr/>
        </p:nvSpPr>
        <p:spPr>
          <a:xfrm>
            <a:off x="10954512" y="25295931"/>
            <a:ext cx="10076688" cy="20413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2000" b="0" dirty="0">
                <a:solidFill>
                  <a:srgbClr val="1A1A18"/>
                </a:solidFill>
                <a:latin typeface="Times New Roman"/>
              </a:rPr>
              <a:t>• Test with real occlusion data, using subjects wearing actual sunglasses and surgical masks during recording.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2000" b="0" dirty="0">
                <a:solidFill>
                  <a:srgbClr val="1A1A18"/>
                </a:solidFill>
                <a:latin typeface="Times New Roman"/>
              </a:rPr>
              <a:t>• Multi-modal fusion combining facial expression recognition with audio and physiological signals.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2000" b="0" dirty="0">
                <a:solidFill>
                  <a:srgbClr val="1A1A18"/>
                </a:solidFill>
                <a:latin typeface="Times New Roman"/>
              </a:rPr>
              <a:t>• Real-time deployment on embedded in-vehicle systems.</a:t>
            </a:r>
          </a:p>
        </p:txBody>
      </p:sp>
      <p:pic>
        <p:nvPicPr>
          <p:cNvPr id="9" name="Picture 8" descr="image.png">
            <a:extLst>
              <a:ext uri="{FF2B5EF4-FFF2-40B4-BE49-F238E27FC236}">
                <a16:creationId xmlns:a16="http://schemas.microsoft.com/office/drawing/2014/main" id="{400AA64A-5F5F-0679-C7D1-EC5C900C90F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211392" y="153038"/>
            <a:ext cx="2953512" cy="237984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838D218-56E3-8516-DD32-BB1AC63E8B54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9212" y="23239233"/>
            <a:ext cx="7924800" cy="3657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17644</TotalTime>
  <Words>760</Words>
  <Application>Microsoft Office PowerPoint</Application>
  <PresentationFormat>Custom</PresentationFormat>
  <Paragraphs>54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Calibri</vt:lpstr>
      <vt:lpstr>Times New Roman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Driver's Facial Expression Recognition: Enhancing Road Safety through Advanced Technology</dc:title>
  <dc:subject>Computer Science [cs], Computer Science [cs]/Artificial Intelligence [cs.AI]</dc:subject>
  <dc:creator>Ibtissam Saadi, Douglas W. Cunningham, Yassin El Hillali, Abdelmalik Taleb-Ahmed, Abdenour Hadid</dc:creator>
  <cp:keywords>Driver facial expression recognition, emotion recognition of driver, computer vision, driving safety</cp:keywords>
  <cp:lastModifiedBy>Srimon Chaari</cp:lastModifiedBy>
  <cp:revision>49</cp:revision>
  <dcterms:created xsi:type="dcterms:W3CDTF">2024-02-27T18:48:50Z</dcterms:created>
  <dcterms:modified xsi:type="dcterms:W3CDTF">2026-07-17T18:01:32Z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2024-02-19T00:00:00Z</vt:filetime>
  </property>
  <property fmtid="{D5CDD505-2E9C-101B-9397-08002B2CF9AE}" pid="3" name="Creator">
    <vt:lpwstr>HAL</vt:lpwstr>
  </property>
  <property fmtid="{D5CDD505-2E9C-101B-9397-08002B2CF9AE}" pid="4" name="LastSaved">
    <vt:filetime>2024-02-19T00:00:00Z</vt:filetime>
  </property>
</Properties>
</file>